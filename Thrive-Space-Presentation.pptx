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486400" cy="5486400"/>
          </a:xfrm>
          <a:prstGeom prst="ellipse">
            <a:avLst/>
          </a:prstGeom>
          <a:solidFill>
            <a:srgbClr val="0B3D6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2877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INCUBATION MANAGEMENT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Thrive-Space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that takes a startup from application to funded,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company — for admins, mentors, and founders alike.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17720"/>
            <a:ext cx="566928" cy="566928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475378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469087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 ·  React  ·  Spring Boot  ·  MySQL  ·  Razorpay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6217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Computer Science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startup incubator by spreadsheet doesn’t scale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640080" cy="64008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tracking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mentor notes, and funding requests live across spreadsheets, inboxes, and chat threads.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331720"/>
            <a:ext cx="640080" cy="64008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 visibility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374904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mentors, and founders each see a different, incomplete picture of a startup’s status.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331720"/>
            <a:ext cx="640080" cy="64008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unauditable funding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58200" y="374904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and disbursing incubation funding is a manual process with no consistent record.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THRIVE-SPACE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B3D62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Thrive-Space brings the entire incubation lifecycle into one role-based system — built as a small, real microservice architecture rather than a single monolith.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9900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2834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three roles — Admin, Mentor, and Founder each get a purpose-built dashboard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5876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37033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pipeline — application → review → incubation → mentorship → funding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7274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45720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payment microservice handles real fund disbursement via Razorpay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863840" y="1280160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0B3D62"/>
          </a:solidFill>
          <a:ln w="12700">
            <a:solidFill>
              <a:srgbClr val="1E517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183880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183880" y="1874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independent services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183880" y="2468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API for the core domain, plus a Spring Boot service dedicated purely to payments — talking to each other over HTTP and webhooks.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83880" y="3886200"/>
            <a:ext cx="3017520" cy="0"/>
          </a:xfrm>
          <a:prstGeom prst="line">
            <a:avLst/>
          </a:prstGeom>
          <a:noFill/>
          <a:ln w="12700">
            <a:solidFill>
              <a:srgbClr val="1E517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18388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layers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183880" y="44348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· Shared · Infrastructure · API — a clean, from-scratch layered backend.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THRIVE-SPACE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capabilities that carry a startup through the full incubation journey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0409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892808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&amp; Review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532888"/>
            <a:ext cx="31272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submit incubation applications; admins move them through Submitted → Under Review → Accepted / Rejected.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407408" y="1691640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1920240"/>
            <a:ext cx="502920" cy="50292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09" y="20409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892808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Dashboards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36008" y="2532888"/>
            <a:ext cx="31272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protected React dashboards for Admin, Mentor, and Founder, each scoped to what that role needs.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691640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3336" y="1920240"/>
            <a:ext cx="502920" cy="50292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04094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70848" y="1892808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Assignment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03336" y="2532888"/>
            <a:ext cx="31272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match mentors to startups; each assignment is tracked as Active, Completed, or Cancelled.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23550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36192" y="4087368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Reporting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68680" y="4727448"/>
            <a:ext cx="31272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log progress reports against their startup’s stage — Applied, Incubating, Graduated, or Dropped.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407408" y="3886200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4114800"/>
            <a:ext cx="502920" cy="50292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709" y="423550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087368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Requests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36008" y="4727448"/>
            <a:ext cx="31272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raise funding requests; admins approve or reject them through a clear status workflow.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174736" y="3886200"/>
            <a:ext cx="35844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03336" y="4114800"/>
            <a:ext cx="502920" cy="50292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037" y="423550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70848" y="4087368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Payments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03336" y="4727448"/>
            <a:ext cx="31272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funding is disbursed through a dedicated payment microservice, not tracked by hand.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THRIVE-SPACE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One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assigns every user a role that shapes what they can see and do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240280"/>
            <a:ext cx="822960" cy="8229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0610" y="24377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32688" y="3922776"/>
            <a:ext cx="73152" cy="73152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" y="37673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decides on applications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32688" y="4379976"/>
            <a:ext cx="73152" cy="73152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42245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mentors to startups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32688" y="4837176"/>
            <a:ext cx="73152" cy="73152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6817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and tracks funding requests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32688" y="5294376"/>
            <a:ext cx="73152" cy="73152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5" name="Text 12"/>
          <p:cNvSpPr/>
          <p:nvPr/>
        </p:nvSpPr>
        <p:spPr>
          <a:xfrm>
            <a:off x="1115568" y="51389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every startup in the pipeline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89120" y="187452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92140" y="2240280"/>
            <a:ext cx="822960" cy="82296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650" y="2437790"/>
            <a:ext cx="427939" cy="42793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89120" y="3246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681728" y="3922776"/>
            <a:ext cx="73152" cy="73152"/>
          </a:xfrm>
          <a:prstGeom prst="ellipse">
            <a:avLst/>
          </a:prstGeom>
          <a:solidFill>
            <a:srgbClr val="12877F"/>
          </a:solidFill>
          <a:ln/>
        </p:spPr>
      </p:sp>
      <p:sp>
        <p:nvSpPr>
          <p:cNvPr id="21" name="Text 17"/>
          <p:cNvSpPr/>
          <p:nvPr/>
        </p:nvSpPr>
        <p:spPr>
          <a:xfrm>
            <a:off x="4864608" y="37673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an assigned portfolio of startups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681728" y="4379976"/>
            <a:ext cx="73152" cy="73152"/>
          </a:xfrm>
          <a:prstGeom prst="ellipse">
            <a:avLst/>
          </a:prstGeom>
          <a:solidFill>
            <a:srgbClr val="12877F"/>
          </a:solidFill>
          <a:ln/>
        </p:spPr>
      </p:sp>
      <p:sp>
        <p:nvSpPr>
          <p:cNvPr id="23" name="Text 19"/>
          <p:cNvSpPr/>
          <p:nvPr/>
        </p:nvSpPr>
        <p:spPr>
          <a:xfrm>
            <a:off x="4864608" y="42245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founder progress reports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681728" y="4837176"/>
            <a:ext cx="73152" cy="73152"/>
          </a:xfrm>
          <a:prstGeom prst="ellipse">
            <a:avLst/>
          </a:prstGeom>
          <a:solidFill>
            <a:srgbClr val="12877F"/>
          </a:solidFill>
          <a:ln/>
        </p:spPr>
      </p:sp>
      <p:sp>
        <p:nvSpPr>
          <p:cNvPr id="25" name="Text 21"/>
          <p:cNvSpPr/>
          <p:nvPr/>
        </p:nvSpPr>
        <p:spPr>
          <a:xfrm>
            <a:off x="4864608" y="46817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each mentorship’s status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681728" y="5294376"/>
            <a:ext cx="73152" cy="73152"/>
          </a:xfrm>
          <a:prstGeom prst="ellipse">
            <a:avLst/>
          </a:prstGeom>
          <a:solidFill>
            <a:srgbClr val="12877F"/>
          </a:solidFill>
          <a:ln/>
        </p:spPr>
      </p:sp>
      <p:sp>
        <p:nvSpPr>
          <p:cNvPr id="27" name="Text 23"/>
          <p:cNvSpPr/>
          <p:nvPr/>
        </p:nvSpPr>
        <p:spPr>
          <a:xfrm>
            <a:off x="4864608" y="51389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insight back to admins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138160" y="187452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733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9441180" y="224028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690" y="2437790"/>
            <a:ext cx="427939" cy="427939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138160" y="3246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8430768" y="3922776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3" name="Text 28"/>
          <p:cNvSpPr/>
          <p:nvPr/>
        </p:nvSpPr>
        <p:spPr>
          <a:xfrm>
            <a:off x="8613648" y="37673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the incubation application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8430768" y="4379976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5" name="Text 30"/>
          <p:cNvSpPr/>
          <p:nvPr/>
        </p:nvSpPr>
        <p:spPr>
          <a:xfrm>
            <a:off x="8613648" y="42245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their startup’s live status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430768" y="4837176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7" name="Text 32"/>
          <p:cNvSpPr/>
          <p:nvPr/>
        </p:nvSpPr>
        <p:spPr>
          <a:xfrm>
            <a:off x="8613648" y="46817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ongoing progress reports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430768" y="5294376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9" name="Text 34"/>
          <p:cNvSpPr/>
          <p:nvPr/>
        </p:nvSpPr>
        <p:spPr>
          <a:xfrm>
            <a:off x="8613648" y="51389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funding when it’s needed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THRIVE-SPACE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.NET core API alongside an independent payment microservice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6596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51460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role dashboards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931920" y="19659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2877F"/>
          </a:solidFill>
          <a:ln/>
        </p:spPr>
      </p:sp>
      <p:sp>
        <p:nvSpPr>
          <p:cNvPr id="8" name="Text 6"/>
          <p:cNvSpPr/>
          <p:nvPr/>
        </p:nvSpPr>
        <p:spPr>
          <a:xfrm>
            <a:off x="4041648" y="1965960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41648" y="251460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REST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0" y="19659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B3D62"/>
          </a:solidFill>
          <a:ln/>
        </p:spPr>
      </p:sp>
      <p:sp>
        <p:nvSpPr>
          <p:cNvPr id="11" name="Text 9"/>
          <p:cNvSpPr/>
          <p:nvPr/>
        </p:nvSpPr>
        <p:spPr>
          <a:xfrm>
            <a:off x="7699248" y="196596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99248" y="251460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+ Identity data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0" y="2423160"/>
            <a:ext cx="1005840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926080" y="2167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2423160"/>
            <a:ext cx="1005840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583680" y="2167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(Pomelo)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31920" y="3337560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12877F"/>
          </a:solidFill>
          <a:ln w="9525">
            <a:solidFill>
              <a:srgbClr val="1287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3337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3794760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DCEAE8"/>
          </a:solidFill>
          <a:ln w="9525">
            <a:solidFill>
              <a:srgbClr val="1287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7947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31920" y="4251960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DCEAE8"/>
          </a:solidFill>
          <a:ln w="9525">
            <a:solidFill>
              <a:srgbClr val="1287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42519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0" y="4709160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DCEAE8"/>
          </a:solidFill>
          <a:ln w="9525">
            <a:solidFill>
              <a:srgbClr val="12877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47091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5212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41605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7699248" y="416052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Service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99248" y="47091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8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:8081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2880360"/>
            <a:ext cx="2514600" cy="128016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309360" y="2926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X-Service-Key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9520" y="5349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B3D62"/>
          </a:solidFill>
          <a:ln/>
        </p:spPr>
      </p:sp>
      <p:sp>
        <p:nvSpPr>
          <p:cNvPr id="32" name="Text 30"/>
          <p:cNvSpPr/>
          <p:nvPr/>
        </p:nvSpPr>
        <p:spPr>
          <a:xfrm>
            <a:off x="7699248" y="5349240"/>
            <a:ext cx="2066544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Razorpay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99248" y="589788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links · webhook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732520" y="5074920"/>
            <a:ext cx="0" cy="27432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7772400" y="50749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payment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732520" y="6263640"/>
            <a:ext cx="0" cy="0"/>
          </a:xfrm>
          <a:prstGeom prst="line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8275320" y="6263640"/>
            <a:ext cx="0" cy="-1051560"/>
          </a:xfrm>
          <a:prstGeom prst="line">
            <a:avLst/>
          </a:prstGeom>
          <a:noFill/>
          <a:ln w="19050">
            <a:solidFill>
              <a:srgbClr val="5B6B79"/>
            </a:solidFill>
            <a:prstDash val="dash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5486400" y="58978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payment_link.paid webhook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THRIVE-SPACE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Workflow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founder’s application to money in their account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01368" y="3017520"/>
            <a:ext cx="8558784" cy="0"/>
          </a:xfrm>
          <a:prstGeom prst="line">
            <a:avLst/>
          </a:prstGeom>
          <a:noFill/>
          <a:ln w="38100">
            <a:solidFill>
              <a:srgbClr val="E3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2633472"/>
            <a:ext cx="768096" cy="768096"/>
          </a:xfrm>
          <a:prstGeom prst="ellipse">
            <a:avLst/>
          </a:prstGeom>
          <a:solidFill>
            <a:srgbClr val="0B3D6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26334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5780" y="1581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5780" y="190195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submits an incubation application through Thrive-Space.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2898648" y="2633472"/>
            <a:ext cx="768096" cy="768096"/>
          </a:xfrm>
          <a:prstGeom prst="ellipse">
            <a:avLst/>
          </a:prstGeom>
          <a:solidFill>
            <a:srgbClr val="12877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26334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391156" y="35844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391156" y="390448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evaluates it — Accepted or Rejected.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4764024" y="2633472"/>
            <a:ext cx="768096" cy="768096"/>
          </a:xfrm>
          <a:prstGeom prst="ellipse">
            <a:avLst/>
          </a:prstGeom>
          <a:solidFill>
            <a:srgbClr val="0B3D6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26334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56532" y="1581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Incubate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56532" y="190195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startup enters the pipeline; a mentor is assigned.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629400" y="2633472"/>
            <a:ext cx="768096" cy="768096"/>
          </a:xfrm>
          <a:prstGeom prst="ellipse">
            <a:avLst/>
          </a:prstGeom>
          <a:solidFill>
            <a:srgbClr val="12877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6334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21908" y="35844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21908" y="390448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files progress reports; mentor and admin follow along.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494776" y="2633472"/>
            <a:ext cx="768096" cy="768096"/>
          </a:xfrm>
          <a:prstGeom prst="ellipse">
            <a:avLst/>
          </a:prstGeom>
          <a:solidFill>
            <a:srgbClr val="0B3D6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94776" y="26334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987284" y="15819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Funds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87284" y="1901952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submits a funding request for admin approval.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10360152" y="2633472"/>
            <a:ext cx="768096" cy="768096"/>
          </a:xfrm>
          <a:prstGeom prst="ellipse">
            <a:avLst/>
          </a:prstGeom>
          <a:solidFill>
            <a:srgbClr val="12877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60152" y="26334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52660" y="35844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Disburse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852660" y="390448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service issues a Razorpay link and confirms via webhook.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THRIVE-SPACE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codebases, one product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0B3D62"/>
          </a:solidFill>
          <a:ln w="12700">
            <a:solidFill>
              <a:srgbClr val="1E51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48840"/>
            <a:ext cx="594360" cy="59436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22914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API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32688" y="3063240"/>
            <a:ext cx="64008" cy="640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" y="290779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(C#)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32688" y="3721608"/>
            <a:ext cx="64008" cy="640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3566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with Pomelo (MySQL)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32688" y="4379976"/>
            <a:ext cx="64008" cy="640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2245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refresh-token auth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32688" y="5038344"/>
            <a:ext cx="64008" cy="640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2"/>
          <p:cNvSpPr/>
          <p:nvPr/>
        </p:nvSpPr>
        <p:spPr>
          <a:xfrm>
            <a:off x="1115568" y="488289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Shared / Infrastructure / API layers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89120" y="182880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0B3D62"/>
          </a:solidFill>
          <a:ln w="12700">
            <a:solidFill>
              <a:srgbClr val="1E517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81728" y="2148840"/>
            <a:ext cx="594360" cy="59436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374" y="2291486"/>
            <a:ext cx="309067" cy="30906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40680" y="21488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4681728" y="3063240"/>
            <a:ext cx="64008" cy="640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/>
          <p:nvPr/>
        </p:nvSpPr>
        <p:spPr>
          <a:xfrm>
            <a:off x="4864608" y="290779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681728" y="3721608"/>
            <a:ext cx="64008" cy="640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19"/>
          <p:cNvSpPr/>
          <p:nvPr/>
        </p:nvSpPr>
        <p:spPr>
          <a:xfrm>
            <a:off x="4864608" y="3566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for API calls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681728" y="4379976"/>
            <a:ext cx="64008" cy="640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/>
          <p:nvPr/>
        </p:nvSpPr>
        <p:spPr>
          <a:xfrm>
            <a:off x="4864608" y="42245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for auth state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681728" y="5038344"/>
            <a:ext cx="64008" cy="640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3"/>
          <p:cNvSpPr/>
          <p:nvPr/>
        </p:nvSpPr>
        <p:spPr>
          <a:xfrm>
            <a:off x="4864608" y="488289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Role-protected routes per dashboard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138160" y="182880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0B3D62"/>
          </a:solidFill>
          <a:ln w="12700">
            <a:solidFill>
              <a:srgbClr val="1E517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430768" y="2148840"/>
            <a:ext cx="594360" cy="59436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414" y="2291486"/>
            <a:ext cx="309067" cy="30906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189720" y="21488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Service</a:t>
            </a:r>
            <a:endParaRPr lang="en-US" sz="1650" dirty="0"/>
          </a:p>
        </p:txBody>
      </p:sp>
      <p:sp>
        <p:nvSpPr>
          <p:cNvPr id="32" name="Shape 27"/>
          <p:cNvSpPr/>
          <p:nvPr/>
        </p:nvSpPr>
        <p:spPr>
          <a:xfrm>
            <a:off x="8430768" y="3063240"/>
            <a:ext cx="64008" cy="640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3" name="Text 28"/>
          <p:cNvSpPr/>
          <p:nvPr/>
        </p:nvSpPr>
        <p:spPr>
          <a:xfrm>
            <a:off x="8613648" y="290779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+ Spring Boot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8430768" y="3721608"/>
            <a:ext cx="64008" cy="640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5" name="Text 30"/>
          <p:cNvSpPr/>
          <p:nvPr/>
        </p:nvSpPr>
        <p:spPr>
          <a:xfrm>
            <a:off x="8613648" y="3566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SDK integration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430768" y="4379976"/>
            <a:ext cx="64008" cy="640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7" name="Text 32"/>
          <p:cNvSpPr/>
          <p:nvPr/>
        </p:nvSpPr>
        <p:spPr>
          <a:xfrm>
            <a:off x="8613648" y="42245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filter for service auth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430768" y="5038344"/>
            <a:ext cx="64008" cy="640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9" name="Text 34"/>
          <p:cNvSpPr/>
          <p:nvPr/>
        </p:nvSpPr>
        <p:spPr>
          <a:xfrm>
            <a:off x="8613648" y="488289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build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THRIVE-SPACE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Integration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microservice handles real money movement, kept separate from the core API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068373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Service-to-service call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560320"/>
            <a:ext cx="47457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 admin approves a funding request, the core API calls POST /api/payments/initiate on the payment service, authenticated with an X-Service-Key header — not a user JWT.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947672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206837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202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Razorpay payment link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73952" y="2560320"/>
            <a:ext cx="47457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service creates a Razorpay Payment Link for the approved amount and returns it for the founder to complete.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233672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435437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062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 webhook confirmation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96112" y="4846320"/>
            <a:ext cx="47457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calls back on payment_link.paid; the raw request body’s signature is verified before any status is trusted.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233672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3" y="435437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20624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Tracked transaction status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73952" y="4846320"/>
            <a:ext cx="47457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is recorded as a PaymentTransaction moving from PENDING to SUCCESS or FAILED.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THRIVE-SPACE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Access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of trust: who a user is, and which service is calling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20824"/>
            <a:ext cx="475488" cy="475488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229" y="2134941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9842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+ refresh tokens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606040"/>
            <a:ext cx="47457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authenticate with short-lived JWT access tokens; a separate RefreshToken entity in its own IdentityDbContext keeps sessions alive safely.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2020824"/>
            <a:ext cx="475488" cy="475488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069" y="2134941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04888" y="19842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authorization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73952" y="2606040"/>
            <a:ext cx="47457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is scoped to Admin, Mentor, or Founder via the UserRole enum — no role can act outside its lane.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40080" y="3959352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197096"/>
            <a:ext cx="475488" cy="475488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29" y="4311213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27048" y="4160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Service-to-service API key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96112" y="4782312"/>
            <a:ext cx="47457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from the core API to the payment microservice use a dedicated API-key filter, kept fully separate from user auth.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217920" y="3959352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197096"/>
            <a:ext cx="475488" cy="475488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069" y="4311213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04888" y="4160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error handling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73952" y="4782312"/>
            <a:ext cx="47457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exception-handling middleware normalizes API errors instead of leaking stack traces.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THRIVE-SPACE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B3D62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&amp; What’s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TAUGHT 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1966692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19656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an AI-scaffolded backend by hand to actually understand ASP.NET Core, EF Core, and clean layered architecture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770632"/>
            <a:ext cx="384048" cy="384048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2862804"/>
            <a:ext cx="199705" cy="1997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71576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real cross-service communication — a .NET API talking to an independent Java microservice over HTTP and signed webhooks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666744"/>
            <a:ext cx="384048" cy="384048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3758916"/>
            <a:ext cx="199705" cy="1997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61188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 real domain: application, mentorship, and funding workflows with explicit status enums end to end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675120" y="1417320"/>
            <a:ext cx="4892040" cy="4663440"/>
          </a:xfrm>
          <a:prstGeom prst="roundRect">
            <a:avLst>
              <a:gd name="adj" fmla="val 1961"/>
            </a:avLst>
          </a:prstGeom>
          <a:solidFill>
            <a:srgbClr val="0B3D62"/>
          </a:solidFill>
          <a:ln w="12700">
            <a:solidFill>
              <a:srgbClr val="1E517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995160" y="169164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9951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452360" y="217627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scaffolded SmtpEmailService to notify founders on status changes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9951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452360" y="309067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analytics view summarizing startups, funding, and mentor load for admins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99516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452360" y="400507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automated test coverage across the API layers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99516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452360" y="491947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core API and payment service together behind a reverse proxy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THRIVE-SPACE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B3D6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12877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965960"/>
            <a:ext cx="914400" cy="914400"/>
          </a:xfrm>
          <a:prstGeom prst="ellipse">
            <a:avLst/>
          </a:prstGeom>
          <a:solidFill>
            <a:srgbClr val="12877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8104" y="21854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Thrive-Space — Startup Incubation Management System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2026-08-11T05:26:56Z</dcterms:created>
  <dcterms:modified xsi:type="dcterms:W3CDTF">2026-08-11T05:26:56Z</dcterms:modified>
</cp:coreProperties>
</file>